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lexandria Bold" charset="1" panose="00000000000000000000"/>
      <p:regular r:id="rId22"/>
    </p:embeddedFont>
    <p:embeddedFont>
      <p:font typeface="Garet" charset="1" panose="00000000000000000000"/>
      <p:regular r:id="rId23"/>
    </p:embeddedFont>
    <p:embeddedFont>
      <p:font typeface="Garet Bold" charset="1" panose="00000000000000000000"/>
      <p:regular r:id="rId24"/>
    </p:embeddedFont>
    <p:embeddedFont>
      <p:font typeface="Helvetica World" charset="1" panose="020B0500040000020004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649496"/>
            <a:ext cx="12951349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SOUND CLASSIFICATION USING EFFICIENTNET-B2 AND SPECTROGRAM-BASED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514" y="6158514"/>
            <a:ext cx="12877297" cy="369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Group 8: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IIT2022194 Sambhav Sinha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IIT2022198 Aastha Ojha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IIT2022215 Akash Adak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IIT2022238 Ashutosh Sahu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IFI2022006 Rahatal Dnyanda Santosh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36487" y="2655675"/>
            <a:ext cx="13686286" cy="36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978" indent="-320489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Build a deep learning model that can classify different types of environmental sounds from the dataset.</a:t>
            </a:r>
          </a:p>
          <a:p>
            <a:pPr algn="l" marL="640978" indent="-320489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Challenge : Environmental sounds are highly variable — same class may sound different depending on location or intensity.</a:t>
            </a:r>
          </a:p>
          <a:p>
            <a:pPr algn="l" marL="640978" indent="-320489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Many classes overlap acoustically (e.g., wind vs. rain).</a:t>
            </a:r>
          </a:p>
          <a:p>
            <a:pPr algn="l" marL="640978" indent="-320489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Audio Clip → Spectrogram → Deep Learning Model → Sound Label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541415" y="895350"/>
            <a:ext cx="9205169" cy="11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8"/>
              </a:lnSpc>
            </a:pPr>
            <a:r>
              <a:rPr lang="en-US" b="true" sz="68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GOALS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59096" y="25625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15710" y="2139072"/>
            <a:ext cx="11256579" cy="63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2,000 labeled audio clips of 5 seconds each.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50 classes (40 clips per class).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5-fold cross-validation setup provided officially.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Each file: .wav format sampled at 44.1 kHz.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Categories (5 main groups):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Animal sounds (dog bark, crow, insects)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Natural sounds (rain, thunder, wind)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Human sounds (sneeze, cough, clapping)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Domestic sounds (vacuum, clock tick)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Urban noises (siren, engine, drilling)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54533" y="1166494"/>
            <a:ext cx="13978933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DATA ORGANIZATION &amp; CHALLENGES</a:t>
            </a: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297601" y="2589282"/>
            <a:ext cx="11854377" cy="511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210" indent="-288105" lvl="1">
              <a:lnSpc>
                <a:spcPts val="3736"/>
              </a:lnSpc>
              <a:buFont typeface="Arial"/>
              <a:buChar char="•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Preprocessing Decisions: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Standardized clips to 5 seconds and 44.1 kHz.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Converted stereo to mono (averaged channels).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Split data into 5 folds for cross-validation.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</a:p>
          <a:p>
            <a:pPr algn="l" marL="576210" indent="-288105" lvl="1">
              <a:lnSpc>
                <a:spcPts val="3736"/>
              </a:lnSpc>
              <a:buFont typeface="Arial"/>
              <a:buChar char="•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Challenges in Environmental Sound Data: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Noise: Background or overlapping sounds (e.g., dog barking during rain).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Imbalance: Some sounds more diverse than others.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Acoustic Overlap: Similar frequency patterns across classes (e.g., rain vs. waterfall).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1514" y="2942229"/>
            <a:ext cx="1412900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Implemented the audio preprocessing and feature extraction pipeline.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Ensured consistent, reproducible preprocessing through a custom ESC50Dataset class.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Focused on transforming raw environmental audio into informative spectrogram representations suitable for CNN models.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61294"/>
            <a:ext cx="1666124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PREPROCESSING &amp; FEATURE EXTRACTION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1514" y="5534919"/>
            <a:ext cx="1412900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Designed a PyTorch Dataset class to: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 and preprocess ESC-50 audio files consistently.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Apply waveform + spectrogram augmentations on-the-fly.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 uniform data transformations during training and validation.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7027" y="981075"/>
            <a:ext cx="14037230" cy="2891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Converted raw 1D audio waveforms (5 s, 44.1 kHz) → 2D Mel-Spectrograms using torchaudio.</a:t>
            </a:r>
          </a:p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Used Mel scale to mimic human auditory perception.</a:t>
            </a:r>
          </a:p>
          <a:p>
            <a:pPr algn="l" marL="597800" indent="-29890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Generated log-scaled spectrograms for dynamic range compression and better visual representation.</a:t>
            </a:r>
          </a:p>
          <a:p>
            <a:pPr algn="l">
              <a:lnSpc>
                <a:spcPts val="387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8056" y="81202"/>
            <a:ext cx="16661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SPECTROGRAM GENERATION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056" y="4253386"/>
            <a:ext cx="16661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DELTA AND DELTA-DELTA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9277" y="5300964"/>
            <a:ext cx="14098803" cy="324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6210" indent="-288105" lvl="1">
              <a:lnSpc>
                <a:spcPts val="3736"/>
              </a:lnSpc>
              <a:buFont typeface="Arial"/>
              <a:buChar char="•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Computed temporal derivatives of the Mel-Spectrogram: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Δ (Delta): Captures first-order temporal changes (short-term dynamics).</a:t>
            </a:r>
          </a:p>
          <a:p>
            <a:pPr algn="l" marL="1152420" indent="-384140" lvl="2">
              <a:lnSpc>
                <a:spcPts val="3736"/>
              </a:lnSpc>
              <a:buFont typeface="Arial"/>
              <a:buChar char="⚬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ΔΔ (Delta-Delta): Captures second-order changes (acceleration of features).</a:t>
            </a:r>
          </a:p>
          <a:p>
            <a:pPr algn="l" marL="576210" indent="-288105" lvl="1">
              <a:lnSpc>
                <a:spcPts val="3736"/>
              </a:lnSpc>
              <a:buFont typeface="Arial"/>
              <a:buChar char="•"/>
            </a:pPr>
            <a:r>
              <a:rPr lang="en-US" sz="26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Combined Mel + Δ + ΔΔ → 3-channel input (like RGB image) for CNN processing.</a:t>
            </a:r>
          </a:p>
          <a:p>
            <a:pPr algn="l">
              <a:lnSpc>
                <a:spcPts val="373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502" y="358775"/>
            <a:ext cx="1666124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DATA AUGMENTATION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7561" y="1848833"/>
            <a:ext cx="16512430" cy="595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Waveform Augmentations – Time-Series Level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Gain Adjustment: Random amplitude scaling for loudness variation.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Noise Injection: Adds Gaussian noise to simulate real-world background sounds.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Pitch Shift: Alters pitch while preserving tempo.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Shift (Time Roll): Temporally shifts waveform to introduce variety.</a:t>
            </a:r>
          </a:p>
          <a:p>
            <a:pPr algn="l">
              <a:lnSpc>
                <a:spcPts val="3917"/>
              </a:lnSpc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(b) Spectrogram Augmentations – Image Level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SpecAugment:</a:t>
            </a:r>
          </a:p>
          <a:p>
            <a:pPr algn="l" marL="1208115" indent="-402705" lvl="2">
              <a:lnSpc>
                <a:spcPts val="3917"/>
              </a:lnSpc>
              <a:buFont typeface="Arial"/>
              <a:buChar char="⚬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Time Masking – randomly hides time bands.</a:t>
            </a:r>
          </a:p>
          <a:p>
            <a:pPr algn="l" marL="1208115" indent="-402705" lvl="2">
              <a:lnSpc>
                <a:spcPts val="3917"/>
              </a:lnSpc>
              <a:buFont typeface="Arial"/>
              <a:buChar char="⚬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Frequency Masking – hides Mel frequency bands.</a:t>
            </a:r>
          </a:p>
          <a:p>
            <a:pPr algn="l" marL="604057" indent="-302029" lvl="1">
              <a:lnSpc>
                <a:spcPts val="3917"/>
              </a:lnSpc>
              <a:buFont typeface="Arial"/>
              <a:buChar char="•"/>
            </a:pPr>
            <a:r>
              <a:rPr lang="en-US" sz="279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Increases robustness and prevents overfitting.</a:t>
            </a:r>
          </a:p>
          <a:p>
            <a:pPr algn="l">
              <a:lnSpc>
                <a:spcPts val="3917"/>
              </a:lnSpc>
            </a:pPr>
          </a:p>
          <a:p>
            <a:pPr algn="l">
              <a:lnSpc>
                <a:spcPts val="391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8056" y="680105"/>
            <a:ext cx="16661244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ARCHITECTURE: EFFICIENTNET-B2 FOR ENVIRONMENTAL SOUND CLASSIFICATION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66889" y="3159444"/>
            <a:ext cx="8010946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Key Idea: Use an image-based CNN (EfficientNet-B2) on spectrogram-like inputs.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6889" y="5413359"/>
            <a:ext cx="8010946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Input Representation: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3 channels → Mel Spectrogram, Delta, Delta-Delta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Each audio → 5-second clip → 128×128 Mel image resized to model size (260×260)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881926" y="3230844"/>
            <a:ext cx="6210945" cy="46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Waveform →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Mel Spectrogram (dB)→ 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Δ → 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ΔΔ → 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Stack (3-channel image) 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EfficientNet-B2 → </a:t>
            </a:r>
          </a:p>
          <a:p>
            <a:pPr algn="ctr">
              <a:lnSpc>
                <a:spcPts val="4576"/>
              </a:lnSpc>
            </a:pPr>
            <a:r>
              <a:rPr lang="en-US" sz="326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Softmax (50 classes)</a:t>
            </a:r>
          </a:p>
          <a:p>
            <a:pPr algn="ctr">
              <a:lnSpc>
                <a:spcPts val="457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881926" y="7796015"/>
            <a:ext cx="6210945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b="true" sz="326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Architecture 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959" y="873957"/>
            <a:ext cx="1798504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TRAINING CONFIGURATION &amp; TECHNIQUES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88271"/>
            <a:ext cx="14049321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Regularization: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Mixup (α = 0.4): improves generalization by blending samples</a:t>
            </a:r>
          </a:p>
          <a:p>
            <a:pPr algn="just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Label smoothing (0.1): reduces over-confidence</a:t>
            </a:r>
          </a:p>
          <a:p>
            <a:pPr algn="just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729342"/>
            <a:ext cx="14049321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Optimizer: AdamW (lr = 3e-4, weight decay = 1e-2)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70263"/>
            <a:ext cx="14049321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Scheduler: CosineAnnealingLR → gradually reduces learning rate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909658"/>
            <a:ext cx="14049321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Batch size: 32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049054"/>
            <a:ext cx="14049321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Augmentations: SpecAugment (time &amp; frequency masking)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2535" y="2108442"/>
            <a:ext cx="3197385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Cross-Validation: 5-fold setup (trained on 4 folds, validated on 1)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67195" y="5938225"/>
            <a:ext cx="11301259" cy="3884808"/>
          </a:xfrm>
          <a:custGeom>
            <a:avLst/>
            <a:gdLst/>
            <a:ahLst/>
            <a:cxnLst/>
            <a:rect r="r" b="b" t="t" l="l"/>
            <a:pathLst>
              <a:path h="3884808" w="11301259">
                <a:moveTo>
                  <a:pt x="0" y="0"/>
                </a:moveTo>
                <a:lnTo>
                  <a:pt x="11301259" y="0"/>
                </a:lnTo>
                <a:lnTo>
                  <a:pt x="11301259" y="3884808"/>
                </a:lnTo>
                <a:lnTo>
                  <a:pt x="0" y="3884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1393" y="663817"/>
            <a:ext cx="1439286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MODEL EVALUATION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58902" y="2342705"/>
            <a:ext cx="4914383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Performance: Best validation Accuracy: ~90.25 % , stable accuracy across folds (~89–91 %)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0560" y="2609405"/>
            <a:ext cx="3806108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Observation: Model learned strong sound-class features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089775" y="2595025"/>
            <a:ext cx="7169525" cy="5656915"/>
          </a:xfrm>
          <a:custGeom>
            <a:avLst/>
            <a:gdLst/>
            <a:ahLst/>
            <a:cxnLst/>
            <a:rect r="r" b="b" t="t" l="l"/>
            <a:pathLst>
              <a:path h="5656915" w="7169525">
                <a:moveTo>
                  <a:pt x="0" y="0"/>
                </a:moveTo>
                <a:lnTo>
                  <a:pt x="7169525" y="0"/>
                </a:lnTo>
                <a:lnTo>
                  <a:pt x="7169525" y="5656915"/>
                </a:lnTo>
                <a:lnTo>
                  <a:pt x="0" y="5656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801" y="781882"/>
            <a:ext cx="1710202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PERFORMANCE EVALUATION ON THE TEST 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27702"/>
            <a:ext cx="11400286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Validation Accuracy: 90.25 %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78148"/>
            <a:ext cx="11400286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 Accuracy: 59.82 %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27827"/>
            <a:ext cx="9061075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Large drop → indicates generalization issue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59298"/>
            <a:ext cx="11400286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Possible causes: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Similar sounding classes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Overfitting to training patterns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148619" y="2426471"/>
            <a:ext cx="6776047" cy="6242433"/>
          </a:xfrm>
          <a:custGeom>
            <a:avLst/>
            <a:gdLst/>
            <a:ahLst/>
            <a:cxnLst/>
            <a:rect r="r" b="b" t="t" l="l"/>
            <a:pathLst>
              <a:path h="6242433" w="6776047">
                <a:moveTo>
                  <a:pt x="0" y="0"/>
                </a:moveTo>
                <a:lnTo>
                  <a:pt x="6776047" y="0"/>
                </a:lnTo>
                <a:lnTo>
                  <a:pt x="6776047" y="6242433"/>
                </a:lnTo>
                <a:lnTo>
                  <a:pt x="0" y="62424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801" y="781882"/>
            <a:ext cx="1710202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UNDERSTANDING MISCLASSIFICATIONS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248" y="2698064"/>
            <a:ext cx="11400286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Computed 50 × 50 confusion matrix.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248" y="3491335"/>
            <a:ext cx="10561425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Observed strong diagonal but significant confusion between acoustically similar classes: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Rain ↔ Sea waves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Dog bark ↔ Crow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Wind ↔ Rustling leaves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894456"/>
            <a:ext cx="9061075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Computed per-class accuracy to find weakest categories.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271847"/>
            <a:ext cx="10119919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Checked sample spectrograms of misclassified files.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122292" y="2717838"/>
            <a:ext cx="8165708" cy="5930346"/>
          </a:xfrm>
          <a:custGeom>
            <a:avLst/>
            <a:gdLst/>
            <a:ahLst/>
            <a:cxnLst/>
            <a:rect r="r" b="b" t="t" l="l"/>
            <a:pathLst>
              <a:path h="5930346" w="8165708">
                <a:moveTo>
                  <a:pt x="0" y="0"/>
                </a:moveTo>
                <a:lnTo>
                  <a:pt x="8165708" y="0"/>
                </a:lnTo>
                <a:lnTo>
                  <a:pt x="8165708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3801" y="781882"/>
            <a:ext cx="1710202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VISUALIZING FEATURE SPACE WITH T-SNE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248" y="2896319"/>
            <a:ext cx="11400286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Extracted embeddings from the model’s penultimate layer.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248" y="4537315"/>
            <a:ext cx="9226043" cy="1145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Reduced dimensions using t-SNE → visualized clusters.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248" y="6176510"/>
            <a:ext cx="9061075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Observations: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ome classes form tight clusters (clear separation).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Overlapping regions correspond to frequent misclassifications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6932" y="141605"/>
            <a:ext cx="111741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Acoustic Similarity &amp; Error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4402" y="2882659"/>
            <a:ext cx="1737919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Approach: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• Calculated mel-spectral centroid distances between classes  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Compared each misclassified sample with both its true class and predicted class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Observed confusion patterns in similar-sounding classes (rain vs sea waves, dog vs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crow)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4402" y="6277610"/>
            <a:ext cx="1737919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Many errors happene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because classes were acoustically similar, not random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Model learned broad sound characteristics but struggled with fine-grained separation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Shows model followed meaningful audio cues, confirming interpretability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4402" y="1665484"/>
            <a:ext cx="173791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derstand why the model made certain mistakes.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9455" y="537527"/>
            <a:ext cx="102035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 of Analyti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5773" y="2206685"/>
            <a:ext cx="1639645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Combined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centroid distances, confusion matrix tren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ds, and t-SNE clusters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Environmental audio forms continuous acoustic space, not perfectly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separable groups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Large validation-to-test gap emphasized need for source-based cross-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Analysis confirmed that data leakage inflated validation accuracy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Interpretability helped reveal sound-class relationships and model limits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Future steps: strict cross-validation, ablation on augmentations, use stronger pretrained models for higher real-world accuracy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DAG305ggT_U</dc:identifier>
  <dcterms:modified xsi:type="dcterms:W3CDTF">2011-08-01T06:04:30Z</dcterms:modified>
  <cp:revision>1</cp:revision>
  <dc:title>TSDA-PPT-GRP8</dc:title>
</cp:coreProperties>
</file>